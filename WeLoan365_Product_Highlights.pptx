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KYC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8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2C39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44E4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Verified</c:v>
                </c:pt>
                <c:pt idx="1">
                  <c:v>Pending</c:v>
                </c:pt>
                <c:pt idx="2">
                  <c:v>Rejected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72</c:v>
                </c:pt>
                <c:pt idx="1">
                  <c:v>21</c:v>
                </c:pt>
                <c:pt idx="2">
                  <c:v>7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B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4114800" cy="41148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KOSIGN  ·  FINTECH SUITE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WeLoan365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lending platform that runs your entire loan lifecycle — from product setup to disbursement and repayment.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" y="3886200"/>
            <a:ext cx="457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Highlights  ·  Prepared for lending institutions, MFIs &amp; banks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KOSIGN (Cambodia) Investment Co., Ltd.  ·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Lending today is held back by manual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F4F8F8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1226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4942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74320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approvals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3081528"/>
            <a:ext cx="22128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forms and email back-and-forth stretch decisions across days, frustrating good borrowers.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29000" y="187452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F4F8F8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85032" y="211226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24942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032" y="274320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85032" y="3081528"/>
            <a:ext cx="22128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records, KYC, and loan files live in spreadsheets and silos that don't talk to each other.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187452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F4F8F8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211226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24942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274320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pressure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3081528"/>
            <a:ext cx="22128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files make audit trails, approval limits, and risk controls hard to enforce consistently.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06840" y="187452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F4F8F8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62872" y="211226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249424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62872" y="274320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visibility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62872" y="3081528"/>
            <a:ext cx="22128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insight into portfolio risk, officer performance, and where applications get stuck.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WeLoan365 replaces all of this with one connected, configurable platform.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 across the full loan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WeLoan365 manages every stage in a single connected workflow — no re-keying, no lost files, full visibility end to end.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46888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0E7C86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70432" y="2743200"/>
            <a:ext cx="768096" cy="768096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92608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8096" y="356616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" y="385876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products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324612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78608" y="246888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0E2F3A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980944" y="2743200"/>
            <a:ext cx="768096" cy="768096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824" y="292608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78608" y="356616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2578608" y="385876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docs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664" y="3246120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389120" y="246888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0E7C86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791456" y="2743200"/>
            <a:ext cx="768096" cy="768096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36" y="2926080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0" y="356616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4389120" y="385876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 profile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3246120"/>
            <a:ext cx="201168" cy="20116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199632" y="246888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0E2F3A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601968" y="2743200"/>
            <a:ext cx="768096" cy="768096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2926080"/>
            <a:ext cx="402336" cy="40233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199632" y="356616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6199632" y="385876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risk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0688" y="3246120"/>
            <a:ext cx="201168" cy="201168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8010144" y="246888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0E7C86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8412480" y="2743200"/>
            <a:ext cx="768096" cy="768096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0" y="2926080"/>
            <a:ext cx="402336" cy="402336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010144" y="356616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500" dirty="0"/>
          </a:p>
        </p:txBody>
      </p:sp>
      <p:sp>
        <p:nvSpPr>
          <p:cNvPr id="34" name="Text 23"/>
          <p:cNvSpPr/>
          <p:nvPr/>
        </p:nvSpPr>
        <p:spPr>
          <a:xfrm>
            <a:off x="8010144" y="385876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roles</a:t>
            </a:r>
            <a:endParaRPr lang="en-US" sz="11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0" y="3246120"/>
            <a:ext cx="201168" cy="201168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9820656" y="246888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0E2F3A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25"/>
          <p:cNvSpPr/>
          <p:nvPr/>
        </p:nvSpPr>
        <p:spPr>
          <a:xfrm>
            <a:off x="10222992" y="2743200"/>
            <a:ext cx="768096" cy="768096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05872" y="2926080"/>
            <a:ext cx="402336" cy="402336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9820656" y="356616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</a:t>
            </a:r>
            <a:endParaRPr lang="en-US" sz="1500" dirty="0"/>
          </a:p>
        </p:txBody>
      </p:sp>
      <p:sp>
        <p:nvSpPr>
          <p:cNvPr id="40" name="Text 27"/>
          <p:cNvSpPr/>
          <p:nvPr/>
        </p:nvSpPr>
        <p:spPr>
          <a:xfrm>
            <a:off x="9820656" y="385876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repay</a:t>
            </a:r>
            <a:endParaRPr lang="en-US" sz="1100" dirty="0"/>
          </a:p>
        </p:txBody>
      </p:sp>
      <p:sp>
        <p:nvSpPr>
          <p:cNvPr id="41" name="Text 28"/>
          <p:cNvSpPr/>
          <p:nvPr/>
        </p:nvSpPr>
        <p:spPr>
          <a:xfrm>
            <a:off x="1737360" y="4892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42" name="Text 29"/>
          <p:cNvSpPr/>
          <p:nvPr/>
        </p:nvSpPr>
        <p:spPr>
          <a:xfrm>
            <a:off x="1737360" y="54681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loan files</a:t>
            </a:r>
            <a:endParaRPr lang="en-US" sz="1250" dirty="0"/>
          </a:p>
        </p:txBody>
      </p:sp>
      <p:sp>
        <p:nvSpPr>
          <p:cNvPr id="43" name="Text 30"/>
          <p:cNvSpPr/>
          <p:nvPr/>
        </p:nvSpPr>
        <p:spPr>
          <a:xfrm>
            <a:off x="4983480" y="4892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44" name="Text 31"/>
          <p:cNvSpPr/>
          <p:nvPr/>
        </p:nvSpPr>
        <p:spPr>
          <a:xfrm>
            <a:off x="4983480" y="54681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250" dirty="0"/>
          </a:p>
        </p:txBody>
      </p:sp>
      <p:sp>
        <p:nvSpPr>
          <p:cNvPr id="45" name="Text 32"/>
          <p:cNvSpPr/>
          <p:nvPr/>
        </p:nvSpPr>
        <p:spPr>
          <a:xfrm>
            <a:off x="8229600" y="4892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</a:t>
            </a:r>
            <a:endParaRPr lang="en-US" sz="3000" dirty="0"/>
          </a:p>
        </p:txBody>
      </p:sp>
      <p:sp>
        <p:nvSpPr>
          <p:cNvPr id="46" name="Text 33"/>
          <p:cNvSpPr/>
          <p:nvPr/>
        </p:nvSpPr>
        <p:spPr>
          <a:xfrm>
            <a:off x="8229600" y="54681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visibility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configurable product catalogue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81328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launch any loan product yourself — set amount, rate, term, fees, eligibility and required documents. No code, no vendor ticket.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 Loan (ML)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$100–3,000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14–18%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6–48m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Business (SBL)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$10k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13–16%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6–96m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$15k+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240m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 Loan (HL)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11%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240m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Migrant Worker Loan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 · JP · SG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828800"/>
            <a:ext cx="502920" cy="502920"/>
          </a:xfrm>
          <a:prstGeom prst="ellipse">
            <a:avLst/>
          </a:prstGeom>
          <a:solidFill>
            <a:srgbClr val="0E2F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2" y="194767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66760" y="18105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KHR &amp; USD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366760" y="21031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 in both currencies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726680" y="2788920"/>
            <a:ext cx="502920" cy="502920"/>
          </a:xfrm>
          <a:prstGeom prst="ellipse">
            <a:avLst/>
          </a:prstGeom>
          <a:solidFill>
            <a:srgbClr val="0E2F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290779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66760" y="27706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&amp; penalties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366760" y="30632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fee, late penalty, early-payoff rules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726680" y="3749040"/>
            <a:ext cx="502920" cy="502920"/>
          </a:xfrm>
          <a:prstGeom prst="ellipse">
            <a:avLst/>
          </a:prstGeom>
          <a:solidFill>
            <a:srgbClr val="0E2F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386791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66760" y="37307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 sub-products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8366760" y="40233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 Worker Loan by destination country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726680" y="4709160"/>
            <a:ext cx="502920" cy="502920"/>
          </a:xfrm>
          <a:prstGeom prst="ellipse">
            <a:avLst/>
          </a:prstGeom>
          <a:solidFill>
            <a:srgbClr val="0E2F3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4828032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66760" y="46908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draft states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8366760" y="49834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review and publish on your schedule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guided application &amp; approval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2670048" cy="3154680"/>
          </a:xfrm>
          <a:prstGeom prst="roundRect">
            <a:avLst>
              <a:gd name="adj" fmla="val 3082"/>
            </a:avLst>
          </a:prstGeom>
          <a:solidFill>
            <a:srgbClr val="F4F8F8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6654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0370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69748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intake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3035808"/>
            <a:ext cx="22128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captured against the right product, with documents and customer details in one place.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29000" y="1828800"/>
            <a:ext cx="2670048" cy="3154680"/>
          </a:xfrm>
          <a:prstGeom prst="roundRect">
            <a:avLst>
              <a:gd name="adj" fmla="val 3082"/>
            </a:avLst>
          </a:prstGeom>
          <a:solidFill>
            <a:srgbClr val="F4F8F8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85032" y="2066544"/>
            <a:ext cx="566928" cy="566928"/>
          </a:xfrm>
          <a:prstGeom prst="ellipse">
            <a:avLst/>
          </a:prstGeom>
          <a:solidFill>
            <a:srgbClr val="0E2F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20370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032" y="269748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pipeline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85032" y="3035808"/>
            <a:ext cx="22128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moves through clear stages so officers always know what's next and nothing stalls.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1828800"/>
            <a:ext cx="2670048" cy="3154680"/>
          </a:xfrm>
          <a:prstGeom prst="roundRect">
            <a:avLst>
              <a:gd name="adj" fmla="val 3082"/>
            </a:avLst>
          </a:prstGeom>
          <a:solidFill>
            <a:srgbClr val="F4F8F8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206654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20370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269748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approval limits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3035808"/>
            <a:ext cx="22128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routed by role and amount — credit officers, senior officers and admins each act within their authority.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06840" y="1828800"/>
            <a:ext cx="2670048" cy="3154680"/>
          </a:xfrm>
          <a:prstGeom prst="roundRect">
            <a:avLst>
              <a:gd name="adj" fmla="val 3082"/>
            </a:avLst>
          </a:prstGeom>
          <a:solidFill>
            <a:srgbClr val="F4F8F8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62872" y="2066544"/>
            <a:ext cx="566928" cy="566928"/>
          </a:xfrm>
          <a:prstGeom prst="ellipse">
            <a:avLst/>
          </a:prstGeom>
          <a:solidFill>
            <a:srgbClr val="0E2F3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203704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62872" y="269748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flow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62872" y="3035808"/>
            <a:ext cx="22128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term extensions and installment changes in-system, with the reason and requested change tracked.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decisions, consistent controls, and a complete audit trail on every loan.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360° customer &amp; KYC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81328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customer record links every application, loan and document — with KYC status visible at a glance across all your branches.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548640" cy="548640"/>
          </a:xfrm>
          <a:prstGeom prst="ellipse">
            <a:avLst/>
          </a:prstGeom>
          <a:solidFill>
            <a:srgbClr val="E6F4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14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3591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identity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267004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states — verified, pending, rejected — tracked per customer.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3383280"/>
            <a:ext cx="548640" cy="548640"/>
          </a:xfrm>
          <a:prstGeom prst="ellipse">
            <a:avLst/>
          </a:prstGeom>
          <a:solidFill>
            <a:srgbClr val="E6F4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520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36499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relationship view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71600" y="367588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details, loan history and active applications in one profile.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4389120"/>
            <a:ext cx="548640" cy="548640"/>
          </a:xfrm>
          <a:prstGeom prst="ellipse">
            <a:avLst/>
          </a:prstGeom>
          <a:solidFill>
            <a:srgbClr val="E6F4F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262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437083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ready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71600" y="46817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loans organised by branch across your network.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315200" y="18288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STATUS — PORTFOLIO VIEW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7223760" y="2103120"/>
          <a:ext cx="42976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xt 14"/>
          <p:cNvSpPr/>
          <p:nvPr/>
        </p:nvSpPr>
        <p:spPr>
          <a:xfrm>
            <a:off x="7223760" y="5257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portfolio split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risk scoring &amp; decision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turns raw signals into a clear recommendation — so officers decide faster and more consistently.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670048" cy="3063240"/>
          </a:xfrm>
          <a:prstGeom prst="roundRect">
            <a:avLst>
              <a:gd name="adj" fmla="val 3082"/>
            </a:avLst>
          </a:prstGeom>
          <a:solidFill>
            <a:srgbClr val="0E2F3A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395728"/>
            <a:ext cx="548640" cy="5486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5328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06324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days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96112" y="3639312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approval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6112" y="3977640"/>
            <a:ext cx="22128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fast loans move through the workflow.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29000" y="2148840"/>
            <a:ext cx="2670048" cy="3063240"/>
          </a:xfrm>
          <a:prstGeom prst="roundRect">
            <a:avLst>
              <a:gd name="adj" fmla="val 3082"/>
            </a:avLst>
          </a:prstGeom>
          <a:solidFill>
            <a:srgbClr val="0E2F3A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85032" y="2395728"/>
            <a:ext cx="548640" cy="5486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53288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306324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Medium-Low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3685032" y="3639312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85032" y="3977640"/>
            <a:ext cx="22128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Credit-bureau score translated into plain-language risk.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17920" y="2148840"/>
            <a:ext cx="2670048" cy="3063240"/>
          </a:xfrm>
          <a:prstGeom prst="roundRect">
            <a:avLst>
              <a:gd name="adj" fmla="val 3082"/>
            </a:avLst>
          </a:prstGeom>
          <a:solidFill>
            <a:srgbClr val="0E2F3A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73952" y="2395728"/>
            <a:ext cx="548640" cy="5486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53288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46520" y="306324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4.9%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6473952" y="3639312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probability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73952" y="3977640"/>
            <a:ext cx="22128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chance the loan defaults (PD).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9006840" y="2148840"/>
            <a:ext cx="2670048" cy="3063240"/>
          </a:xfrm>
          <a:prstGeom prst="roundRect">
            <a:avLst>
              <a:gd name="adj" fmla="val 3082"/>
            </a:avLst>
          </a:prstGeom>
          <a:solidFill>
            <a:srgbClr val="0E7C86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262872" y="2395728"/>
            <a:ext cx="548640" cy="5486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532888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35440" y="306324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9262872" y="3639312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262872" y="3977640"/>
            <a:ext cx="22128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next step for the officer.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 →  Risk bucket  →  Default probability  →  Action — a decision funnel on every loan.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Roles, branches &amp; governance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team member exactly the access they need — and keep approvals within authority automatically.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4F8F8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48840"/>
            <a:ext cx="267004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9572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configuration &amp; oversight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2304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93192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29000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4F8F8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2148840"/>
            <a:ext cx="2670048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39572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Officer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2834640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higher-value approvals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703320"/>
            <a:ext cx="2304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393192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limit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4F8F8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148840"/>
            <a:ext cx="2670048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39572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Officer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2834640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Originates &amp; manages applications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703320"/>
            <a:ext cx="2304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46520" y="393192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limit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006840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4F8F8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06840" y="2148840"/>
            <a:ext cx="2670048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9235440" y="239572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35440" y="2834640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&amp; consultations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35440" y="3703320"/>
            <a:ext cx="2304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235440" y="393192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assist</a:t>
            </a:r>
            <a:endParaRPr lang="en-US" sz="13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937760"/>
            <a:ext cx="310896" cy="31089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51560" y="49194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limits enforced by amount and role</a:t>
            </a:r>
            <a:endParaRPr lang="en-US" sz="125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4937760"/>
            <a:ext cx="310896" cy="31089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709160" y="49194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Branch-level organisation across your network</a:t>
            </a:r>
            <a:endParaRPr lang="en-US" sz="125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937760"/>
            <a:ext cx="310896" cy="31089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366760" y="49194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trail on every action and decision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6 &amp;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your book &amp; keep customers close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5349240" cy="3611880"/>
          </a:xfrm>
          <a:prstGeom prst="roundRect">
            <a:avLst>
              <a:gd name="adj" fmla="val 2278"/>
            </a:avLst>
          </a:prstGeom>
          <a:solidFill>
            <a:srgbClr val="0E2F3A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677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194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Officer referral &amp; performance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officer a referral code and track results automatically.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361188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749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14400" y="4343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542032" y="361188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2542032" y="3749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542032" y="4343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169664" y="361188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69664" y="3749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4169664" y="4343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0080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CONNECTED WITH BORROWERS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0" y="2240280"/>
            <a:ext cx="530352" cy="530352"/>
          </a:xfrm>
          <a:prstGeom prst="ellipse">
            <a:avLst/>
          </a:prstGeom>
          <a:solidFill>
            <a:srgbClr val="E6F4F1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368296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40880" y="222199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chat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7040880" y="25237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borrowers directly inside the platform.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00800" y="3264408"/>
            <a:ext cx="530352" cy="530352"/>
          </a:xfrm>
          <a:prstGeom prst="ellipse">
            <a:avLst/>
          </a:prstGeom>
          <a:solidFill>
            <a:srgbClr val="E6F4F1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339242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040880" y="32461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7040880" y="354787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manage advisory conversations and follow-ups.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400800" y="4288536"/>
            <a:ext cx="530352" cy="530352"/>
          </a:xfrm>
          <a:prstGeom prst="ellipse">
            <a:avLst/>
          </a:prstGeom>
          <a:solidFill>
            <a:srgbClr val="E6F4F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416552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40880" y="427024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promotions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7040880" y="45720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posts and promotional offers to your customers.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943600" cy="5943600"/>
          </a:xfrm>
          <a:prstGeom prst="ellipse">
            <a:avLst/>
          </a:prstGeom>
          <a:solidFill>
            <a:srgbClr val="0E7C86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WELOAN365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Cambodian &amp; Indochina market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286000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43230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1752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78992" y="3611880"/>
            <a:ext cx="21579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KHR &amp; USD lending, Khmer-ready, tuned to local products and regulation.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02736" y="201168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58768" y="2286000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243230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58768" y="301752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 worker lending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858768" y="3611880"/>
            <a:ext cx="21579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overseas loan products for Korea, Japan &amp; Singapore.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82512" y="201168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638544" y="2286000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43230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38544" y="301752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We-suite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638544" y="3611880"/>
            <a:ext cx="21579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alongside KOSIGN's WeBill365, WeInvoice365 &amp; WePoint365 ecosystem.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162288" y="201168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418320" y="2286000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243230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8320" y="301752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&amp; extensible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418320" y="3611880"/>
            <a:ext cx="21579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Web-based, API-ready and built to grow with your institution.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KOSIGN (Cambodia) Investment Co., Ltd.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modernise your lending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41248" y="3063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WeLoan365 with your own products and data. We'll set up a tailored demo for your team.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411480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4114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5760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KOSIGN (Cambodia) Investment Co., Ltd.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WeLoan365  ·  part of the KOSIGN fintech suite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WeLoan365 — Product Highlights</dc:title>
  <dc:subject>PptxGenJS Presentation</dc:subject>
  <dc:creator>KOSIGN (Cambodia) Investment Co., Ltd.</dc:creator>
  <cp:lastModifiedBy>KOSIGN (Cambodia) Investment Co., Ltd.</cp:lastModifiedBy>
  <cp:revision>1</cp:revision>
  <dcterms:created xsi:type="dcterms:W3CDTF">2026-06-04T06:29:10Z</dcterms:created>
  <dcterms:modified xsi:type="dcterms:W3CDTF">2026-06-04T06:29:10Z</dcterms:modified>
</cp:coreProperties>
</file>